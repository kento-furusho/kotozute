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ことづての初回導線A、①はじめる〜④最初のことづての4画面を通しで見ます。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①の役割は惹きつけだけ。仕組み（貯まる・週一・相互ロック）はここでは説明しません。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入力はメールアドレス1つだけ。マジックリンク方式なのでパスワード欄は作りません。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書いたことづては日曜まで貼ったまま。週に一度まとめて見れるようになる、という挙動を図で見せます。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相手のことづてを見るには自分も1枚書く。罰ではなく交換であることを、上下2段の図で示します。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招待の前に必ず1枚書かせる。価値を体感してから誘う順序は入れ替えません。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714500"/>
            <a:ext cx="6858000" cy="6858000"/>
          </a:xfrm>
          <a:prstGeom prst="roundRect">
            <a:avLst>
              <a:gd name="adj" fmla="val 13750"/>
            </a:avLst>
          </a:prstGeom>
          <a:solidFill>
            <a:srgbClr val="FFE9A0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2763500" y="5143500"/>
            <a:ext cx="7620000" cy="7620000"/>
          </a:xfrm>
          <a:prstGeom prst="roundRect">
            <a:avLst>
              <a:gd name="adj" fmla="val 12375"/>
            </a:avLst>
          </a:prstGeom>
          <a:solidFill>
            <a:srgbClr val="FFD6C6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59998">
            <a:off x="142875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33350" y="0"/>
                </a:moveTo>
                <a:lnTo>
                  <a:pt x="476250" y="0"/>
                </a:lnTo>
                <a:arcTo hR="133350" wR="133350" stAng="16200000" swAng="5400000"/>
                <a:lnTo>
                  <a:pt x="609600" y="438150"/>
                </a:lnTo>
                <a:arcTo hR="171450" wR="171450" stAng="0" swAng="5400000"/>
                <a:lnTo>
                  <a:pt x="171450" y="609600"/>
                </a:lnTo>
                <a:arcTo hR="171450" wR="171450" stAng="5400000" swAng="5400000"/>
                <a:lnTo>
                  <a:pt x="0" y="133350"/>
                </a:lnTo>
                <a:arcTo hR="133350" wR="133350" stAng="10800000" swAng="5400000"/>
                <a:close/>
              </a:path>
            </a:pathLst>
          </a:custGeom>
          <a:solidFill>
            <a:srgbClr val="FFD84D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47900" y="2971800"/>
            <a:ext cx="1681088" cy="381000"/>
          </a:xfrm>
          <a:prstGeom prst="roundRect">
            <a:avLst>
              <a:gd name="adj" fmla="val 20000"/>
            </a:avLst>
          </a:prstGeom>
          <a:solidFill>
            <a:srgbClr val="3A322C"/>
          </a:solidFill>
          <a:ln/>
        </p:spPr>
      </p:sp>
      <p:sp>
        <p:nvSpPr>
          <p:cNvPr id="6" name="Text 4"/>
          <p:cNvSpPr/>
          <p:nvPr/>
        </p:nvSpPr>
        <p:spPr>
          <a:xfrm>
            <a:off x="2400300" y="3067050"/>
            <a:ext cx="14524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ONBOARDING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8750" y="3790950"/>
            <a:ext cx="9429750" cy="1127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13"/>
              </a:lnSpc>
              <a:buNone/>
            </a:pPr>
            <a:r>
              <a:rPr lang="en-US" sz="7800" b="1" spc="468" kern="0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ことづて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1428750" y="5204445"/>
            <a:ext cx="8829675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202"/>
              </a:lnSpc>
              <a:buNone/>
            </a:pPr>
            <a:r>
              <a:rPr lang="en-US" sz="2550" dirty="0">
                <a:solidFill>
                  <a:srgbClr val="4A423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入口とコンセプト ― ①はじめる／②登録／③オンボーディング／④最初のことづて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428750" y="6661770"/>
            <a:ext cx="8829675" cy="97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33"/>
              </a:lnSpc>
              <a:buNone/>
            </a:pPr>
            <a:r>
              <a:rPr lang="en-US" sz="1950" dirty="0">
                <a:solidFill>
                  <a:srgbClr val="6B605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①は惹きつけのみ、仕組みの説明は③に一度だけ。招待の前に必ず1枚書かせる順序。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 rot="-419999">
            <a:off x="13620750" y="2381250"/>
            <a:ext cx="2857499" cy="2857499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438150" dist="247650" dir="5400000">
              <a:srgbClr val="3A322C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365199" y="2180274"/>
            <a:ext cx="1025005" cy="461068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3762079" y="2789279"/>
            <a:ext cx="2498205" cy="1289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176"/>
              </a:lnSpc>
              <a:buNone/>
            </a:pPr>
            <a:r>
              <a:rPr lang="en-US" sz="2250" b="1" dirty="0">
                <a:solidFill>
                  <a:srgbClr val="4A3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おかえりの声、元気だった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 rot="300000">
            <a:off x="12477750" y="5048250"/>
            <a:ext cx="2667001" cy="2667001"/>
          </a:xfrm>
          <a:prstGeom prst="rect">
            <a:avLst/>
          </a:prstGeom>
          <a:gradFill rotWithShape="1">
            <a:gsLst>
              <a:gs pos="0">
                <a:srgbClr val="D2EFE0">
                  <a:alpha val="100000"/>
                </a:srgbClr>
              </a:gs>
              <a:gs pos="100000">
                <a:srgbClr val="B9E6D0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438150" dist="247650" dir="5400000">
              <a:srgbClr val="3A322C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419999">
            <a:off x="13999982" y="4947341"/>
            <a:ext cx="914400" cy="34290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758950" y="5527652"/>
            <a:ext cx="2294678" cy="111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2100" b="1" dirty="0">
                <a:solidFill>
                  <a:srgbClr val="2F4A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プリン、ゆずってくれた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502569"/>
            <a:ext cx="571500" cy="457200"/>
          </a:xfrm>
          <a:prstGeom prst="roundRect">
            <a:avLst>
              <a:gd name="adj" fmla="val 16667"/>
            </a:avLst>
          </a:prstGeom>
          <a:solidFill>
            <a:srgbClr val="E4573D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1616869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52650" y="1428750"/>
            <a:ext cx="184404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はじめる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28750" y="2281238"/>
            <a:ext cx="76523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22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価値だけを伝えて、仕組みは言わない。1画面でこのアプリの「よさ」が伝わることだけを狙う。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1145" y="3690937"/>
            <a:ext cx="739330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コピーは「言いそこねた『ありがとう』を、ことづてにして貼っておきます。」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ことづての実物を3枚見せて、トーンを先に体感させる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CTAは「はじめる」1つ。招待リンク経由の入口だけ小さく併記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294394" y="523875"/>
            <a:ext cx="4271963" cy="9244965"/>
          </a:xfrm>
          <a:prstGeom prst="roundRect">
            <a:avLst>
              <a:gd name="adj" fmla="val 8718"/>
            </a:avLst>
          </a:prstGeom>
          <a:solidFill>
            <a:srgbClr val="FFFAEE"/>
          </a:solidFill>
          <a:ln/>
          <a:effectLst>
            <a:outerShdw sx="100000" sy="100000" kx="0" ky="0" algn="bl" rotWithShape="0" blurRad="381000" dist="190500" dir="5400000">
              <a:srgbClr val="3A322C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637169" y="-133350"/>
            <a:ext cx="3286125" cy="3286125"/>
          </a:xfrm>
          <a:prstGeom prst="roundRect">
            <a:avLst>
              <a:gd name="adj" fmla="val 33000"/>
            </a:avLst>
          </a:prstGeom>
          <a:solidFill>
            <a:srgbClr val="FFE9A0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594681" y="2495550"/>
            <a:ext cx="2847975" cy="2847975"/>
          </a:xfrm>
          <a:prstGeom prst="roundRect">
            <a:avLst>
              <a:gd name="adj" fmla="val 38077"/>
            </a:avLst>
          </a:prstGeom>
          <a:solidFill>
            <a:srgbClr val="FFD6C6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579191" y="699135"/>
            <a:ext cx="309737" cy="24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1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9:41</a:t>
            </a:r>
            <a:endParaRPr lang="en-US" sz="1121" dirty="0"/>
          </a:p>
        </p:txBody>
      </p:sp>
      <p:sp>
        <p:nvSpPr>
          <p:cNvPr id="11" name="Shape 9"/>
          <p:cNvSpPr/>
          <p:nvPr/>
        </p:nvSpPr>
        <p:spPr>
          <a:xfrm>
            <a:off x="15744825" y="734735"/>
            <a:ext cx="208121" cy="131445"/>
          </a:xfrm>
          <a:prstGeom prst="roundRect">
            <a:avLst>
              <a:gd name="adj" fmla="val 16667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07715" y="723781"/>
            <a:ext cx="273844" cy="153352"/>
          </a:xfrm>
          <a:prstGeom prst="roundRect">
            <a:avLst>
              <a:gd name="adj" fmla="val 21429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66821" y="1515189"/>
            <a:ext cx="3879819" cy="673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207" kern="0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ことづて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666821" y="2347674"/>
            <a:ext cx="3632921" cy="787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64"/>
              </a:lnSpc>
              <a:buNone/>
            </a:pPr>
            <a:r>
              <a:rPr lang="en-US" sz="1639" dirty="0">
                <a:solidFill>
                  <a:srgbClr val="4A423B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言いそこねた「ありがとう」を、 ことづてにして貼っておきます。</a:t>
            </a:r>
            <a:endParaRPr lang="en-US" sz="1639" dirty="0"/>
          </a:p>
        </p:txBody>
      </p:sp>
      <p:sp>
        <p:nvSpPr>
          <p:cNvPr id="15" name="Shape 13"/>
          <p:cNvSpPr/>
          <p:nvPr/>
        </p:nvSpPr>
        <p:spPr>
          <a:xfrm rot="-419999">
            <a:off x="12776359" y="4357688"/>
            <a:ext cx="1445895" cy="1445895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09550" dist="114300" dir="5400000">
              <a:srgbClr val="3A322C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150464" y="4245396"/>
            <a:ext cx="522810" cy="246232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846995" y="4559768"/>
            <a:ext cx="1294845" cy="6643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1121" b="1" dirty="0">
                <a:solidFill>
                  <a:srgbClr val="4A3B2A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おかえりの声、元気だった</a:t>
            </a:r>
            <a:endParaRPr lang="en-US" sz="1121" dirty="0"/>
          </a:p>
        </p:txBody>
      </p:sp>
      <p:sp>
        <p:nvSpPr>
          <p:cNvPr id="18" name="Shape 16"/>
          <p:cNvSpPr/>
          <p:nvPr/>
        </p:nvSpPr>
        <p:spPr>
          <a:xfrm rot="359998">
            <a:off x="14266069" y="4905375"/>
            <a:ext cx="1577340" cy="1577340"/>
          </a:xfrm>
          <a:prstGeom prst="rect">
            <a:avLst/>
          </a:prstGeom>
          <a:gradFill rotWithShape="1">
            <a:gsLst>
              <a:gs pos="0">
                <a:srgbClr val="D2EFE0">
                  <a:alpha val="100000"/>
                </a:srgbClr>
              </a:gs>
              <a:gs pos="100000">
                <a:srgbClr val="B9E6D0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09550" dist="114300" dir="5400000">
              <a:srgbClr val="3A322C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 rot="419999">
            <a:off x="15266009" y="4860965"/>
            <a:ext cx="481965" cy="18621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4448404" y="5133962"/>
            <a:ext cx="1374063" cy="65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1121" b="1" dirty="0">
                <a:solidFill>
                  <a:srgbClr val="2F4A3E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プリン、ゆずってくれた</a:t>
            </a:r>
            <a:endParaRPr lang="en-US" sz="1121" dirty="0"/>
          </a:p>
        </p:txBody>
      </p:sp>
      <p:sp>
        <p:nvSpPr>
          <p:cNvPr id="21" name="Shape 19"/>
          <p:cNvSpPr/>
          <p:nvPr/>
        </p:nvSpPr>
        <p:spPr>
          <a:xfrm rot="180000">
            <a:off x="13345953" y="6000750"/>
            <a:ext cx="1358266" cy="1358266"/>
          </a:xfrm>
          <a:prstGeom prst="rect">
            <a:avLst/>
          </a:prstGeom>
          <a:gradFill rotWithShape="1">
            <a:gsLst>
              <a:gs pos="0">
                <a:srgbClr val="EFE0FF">
                  <a:alpha val="100000"/>
                </a:srgbClr>
              </a:gs>
              <a:gs pos="100000">
                <a:srgbClr val="DCC8F8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09550" dist="114300" dir="5400000">
              <a:srgbClr val="3A322C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-359998">
            <a:off x="13600600" y="5902004"/>
            <a:ext cx="460058" cy="186214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497030" y="6250935"/>
            <a:ext cx="1164648" cy="563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1121" b="1" dirty="0">
                <a:solidFill>
                  <a:srgbClr val="43305C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寝る前の「おつかれ」</a:t>
            </a:r>
            <a:endParaRPr lang="en-US" sz="1121" dirty="0"/>
          </a:p>
        </p:txBody>
      </p:sp>
      <p:sp>
        <p:nvSpPr>
          <p:cNvPr id="24" name="Text 22"/>
          <p:cNvSpPr/>
          <p:nvPr/>
        </p:nvSpPr>
        <p:spPr>
          <a:xfrm>
            <a:off x="12890950" y="7642785"/>
            <a:ext cx="3078851" cy="3239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4286"/>
              </a:lnSpc>
              <a:buNone/>
            </a:pPr>
            <a:r>
              <a:rPr lang="en-US" sz="1251" b="1" dirty="0">
                <a:solidFill>
                  <a:srgbClr val="6B6058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ふたりの壁に、静かにたまっていきます。</a:t>
            </a:r>
            <a:endParaRPr lang="en-US" sz="1251" dirty="0"/>
          </a:p>
        </p:txBody>
      </p:sp>
      <p:sp>
        <p:nvSpPr>
          <p:cNvPr id="25" name="Shape 23"/>
          <p:cNvSpPr/>
          <p:nvPr/>
        </p:nvSpPr>
        <p:spPr>
          <a:xfrm>
            <a:off x="12579191" y="8103870"/>
            <a:ext cx="3702367" cy="679132"/>
          </a:xfrm>
          <a:prstGeom prst="roundRect">
            <a:avLst>
              <a:gd name="adj" fmla="val 30645"/>
            </a:avLst>
          </a:prstGeom>
          <a:solidFill>
            <a:srgbClr val="E4573D"/>
          </a:solidFill>
          <a:ln/>
          <a:effectLst>
            <a:outerShdw sx="100000" sy="100000" kx="0" ky="0" algn="bl" rotWithShape="0" blurRad="209550" dist="114300" dir="5400000">
              <a:srgbClr val="E4573D">
                <a:alpha val="7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4016272" y="8301038"/>
            <a:ext cx="904320" cy="322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52" b="1" spc="78" kern="0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はじめる</a:t>
            </a:r>
            <a:endParaRPr lang="en-US" sz="1552" dirty="0"/>
          </a:p>
        </p:txBody>
      </p:sp>
      <p:sp>
        <p:nvSpPr>
          <p:cNvPr id="27" name="Text 25"/>
          <p:cNvSpPr/>
          <p:nvPr/>
        </p:nvSpPr>
        <p:spPr>
          <a:xfrm>
            <a:off x="13471922" y="8958263"/>
            <a:ext cx="2108597" cy="235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8" dirty="0">
                <a:solidFill>
                  <a:srgbClr val="9A8E8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招待リンクから来た人はこちら</a:t>
            </a:r>
            <a:endParaRPr lang="en-US" sz="107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502569"/>
            <a:ext cx="571500" cy="457200"/>
          </a:xfrm>
          <a:prstGeom prst="roundRect">
            <a:avLst>
              <a:gd name="adj" fmla="val 16667"/>
            </a:avLst>
          </a:prstGeom>
          <a:solidFill>
            <a:srgbClr val="E4573D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1616869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52650" y="1428750"/>
            <a:ext cx="91440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登録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28750" y="2281238"/>
            <a:ext cx="76523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22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入力はメールアドレスだけ。名前・生年月日・性別は集めない。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1145" y="3690937"/>
            <a:ext cx="7393305" cy="263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マジックリンク方式のためパスワード欄はなし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「パスワードなしで、ログイン用のリンクを送ります。」と先に説明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入力欄はひとつだけ、フォーカス状態のまま提示して迷わせない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294394" y="523875"/>
            <a:ext cx="4271963" cy="9244965"/>
          </a:xfrm>
          <a:prstGeom prst="roundRect">
            <a:avLst>
              <a:gd name="adj" fmla="val 871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81000" dist="190500" dir="5400000">
              <a:srgbClr val="3A322C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579191" y="699135"/>
            <a:ext cx="309737" cy="24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1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9:41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15744825" y="734735"/>
            <a:ext cx="208121" cy="131445"/>
          </a:xfrm>
          <a:prstGeom prst="roundRect">
            <a:avLst>
              <a:gd name="adj" fmla="val 16667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7715" y="723781"/>
            <a:ext cx="273844" cy="153352"/>
          </a:xfrm>
          <a:prstGeom prst="roundRect">
            <a:avLst>
              <a:gd name="adj" fmla="val 21429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57284" y="1142762"/>
            <a:ext cx="3874341" cy="279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94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もどる</a:t>
            </a:r>
            <a:endParaRPr lang="en-US" sz="1294" dirty="0"/>
          </a:p>
        </p:txBody>
      </p:sp>
      <p:sp>
        <p:nvSpPr>
          <p:cNvPr id="12" name="Text 10"/>
          <p:cNvSpPr/>
          <p:nvPr/>
        </p:nvSpPr>
        <p:spPr>
          <a:xfrm>
            <a:off x="12623006" y="1887617"/>
            <a:ext cx="3976211" cy="481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532"/>
              </a:lnSpc>
              <a:buNone/>
            </a:pPr>
            <a:r>
              <a:rPr lang="en-US" sz="2329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メールアドレスだけ</a:t>
            </a:r>
            <a:endParaRPr lang="en-US" sz="2329" dirty="0"/>
          </a:p>
        </p:txBody>
      </p:sp>
      <p:sp>
        <p:nvSpPr>
          <p:cNvPr id="13" name="Text 11"/>
          <p:cNvSpPr/>
          <p:nvPr/>
        </p:nvSpPr>
        <p:spPr>
          <a:xfrm>
            <a:off x="12623006" y="2484596"/>
            <a:ext cx="3723180" cy="641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90"/>
              </a:lnSpc>
              <a:buNone/>
            </a:pPr>
            <a:r>
              <a:rPr lang="en-US" sz="1251" dirty="0">
                <a:solidFill>
                  <a:srgbClr val="6B605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パスワードなしで、 ログイン用のリンクを送ります。</a:t>
            </a:r>
            <a:endParaRPr lang="en-US" sz="1251" dirty="0"/>
          </a:p>
        </p:txBody>
      </p:sp>
      <p:sp>
        <p:nvSpPr>
          <p:cNvPr id="14" name="Shape 12"/>
          <p:cNvSpPr/>
          <p:nvPr/>
        </p:nvSpPr>
        <p:spPr>
          <a:xfrm>
            <a:off x="12623006" y="3482414"/>
            <a:ext cx="3614738" cy="722947"/>
          </a:xfrm>
          <a:prstGeom prst="roundRect">
            <a:avLst>
              <a:gd name="adj" fmla="val 24242"/>
            </a:avLst>
          </a:prstGeom>
          <a:solidFill>
            <a:srgbClr val="FAF6EF"/>
          </a:solidFill>
          <a:ln w="21908">
            <a:solidFill>
              <a:srgbClr val="3A32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42081" y="3712443"/>
            <a:ext cx="176547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3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futari@example.com</a:t>
            </a:r>
            <a:endParaRPr lang="en-US" sz="1423" dirty="0"/>
          </a:p>
        </p:txBody>
      </p:sp>
      <p:sp>
        <p:nvSpPr>
          <p:cNvPr id="16" name="Shape 14"/>
          <p:cNvSpPr/>
          <p:nvPr/>
        </p:nvSpPr>
        <p:spPr>
          <a:xfrm>
            <a:off x="14468970" y="3723397"/>
            <a:ext cx="21907" cy="240982"/>
          </a:xfrm>
          <a:prstGeom prst="rect">
            <a:avLst/>
          </a:prstGeom>
          <a:solidFill>
            <a:srgbClr val="E4573D"/>
          </a:solidFill>
          <a:ln/>
        </p:spPr>
      </p:sp>
      <p:sp>
        <p:nvSpPr>
          <p:cNvPr id="17" name="Text 15"/>
          <p:cNvSpPr/>
          <p:nvPr/>
        </p:nvSpPr>
        <p:spPr>
          <a:xfrm>
            <a:off x="12666821" y="4336807"/>
            <a:ext cx="3932396" cy="229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35" dirty="0">
                <a:solidFill>
                  <a:srgbClr val="A0958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メールのリンクをタップすれば、ログイン完了です。</a:t>
            </a:r>
            <a:endParaRPr lang="en-US" sz="1035" dirty="0"/>
          </a:p>
        </p:txBody>
      </p:sp>
      <p:sp>
        <p:nvSpPr>
          <p:cNvPr id="18" name="Shape 16"/>
          <p:cNvSpPr/>
          <p:nvPr/>
        </p:nvSpPr>
        <p:spPr>
          <a:xfrm>
            <a:off x="12579191" y="8108834"/>
            <a:ext cx="3702367" cy="679132"/>
          </a:xfrm>
          <a:prstGeom prst="roundRect">
            <a:avLst>
              <a:gd name="adj" fmla="val 30645"/>
            </a:avLst>
          </a:prstGeom>
          <a:solidFill>
            <a:srgbClr val="E4573D"/>
          </a:solidFill>
          <a:ln/>
          <a:effectLst>
            <a:outerShdw sx="100000" sy="100000" kx="0" ky="0" algn="bl" rotWithShape="0" blurRad="209550" dist="114300" dir="5400000">
              <a:srgbClr val="E4573D">
                <a:alpha val="7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05716" y="8306001"/>
            <a:ext cx="1594156" cy="322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52" b="1" spc="78" kern="0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リンクをもらう</a:t>
            </a:r>
            <a:endParaRPr lang="en-US" sz="1552" dirty="0"/>
          </a:p>
        </p:txBody>
      </p:sp>
      <p:sp>
        <p:nvSpPr>
          <p:cNvPr id="20" name="Text 18"/>
          <p:cNvSpPr/>
          <p:nvPr/>
        </p:nvSpPr>
        <p:spPr>
          <a:xfrm>
            <a:off x="12808535" y="8941318"/>
            <a:ext cx="3243679" cy="252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92" dirty="0">
                <a:solidFill>
                  <a:srgbClr val="A0958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利用規約・プライバシーポリシーに同意のうえ進みます</a:t>
            </a:r>
            <a:endParaRPr lang="en-US" sz="99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502569"/>
            <a:ext cx="761926" cy="457200"/>
          </a:xfrm>
          <a:prstGeom prst="roundRect">
            <a:avLst>
              <a:gd name="adj" fmla="val 16667"/>
            </a:avLst>
          </a:prstGeom>
          <a:solidFill>
            <a:srgbClr val="E4573D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1616869"/>
            <a:ext cx="4952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③-1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43076" y="1428750"/>
            <a:ext cx="414909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週に一度のオープン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28750" y="2281238"/>
            <a:ext cx="76523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22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テキストで説明しきらず、曜日レーンの図で挙動を見せる。書いた日に貼られて、そのまま日曜まで。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1145" y="3690937"/>
            <a:ext cx="739330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書かなかった日は空きマス。ノルマではないことが図から伝わる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日曜だけがアクセント色の「オープン」帯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スキップ可。ページャは2枚のみ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294394" y="523875"/>
            <a:ext cx="4271963" cy="9244965"/>
          </a:xfrm>
          <a:prstGeom prst="roundRect">
            <a:avLst>
              <a:gd name="adj" fmla="val 8718"/>
            </a:avLst>
          </a:prstGeom>
          <a:solidFill>
            <a:srgbClr val="F7F2E9"/>
          </a:solidFill>
          <a:ln/>
          <a:effectLst>
            <a:outerShdw sx="100000" sy="100000" kx="0" ky="0" algn="bl" rotWithShape="0" blurRad="381000" dist="190500" dir="5400000">
              <a:srgbClr val="3A322C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294394" y="523875"/>
            <a:ext cx="4271963" cy="9244965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" name="Text 7"/>
          <p:cNvSpPr/>
          <p:nvPr/>
        </p:nvSpPr>
        <p:spPr>
          <a:xfrm>
            <a:off x="12579191" y="699135"/>
            <a:ext cx="309737" cy="24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1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9:41</a:t>
            </a:r>
            <a:endParaRPr lang="en-US" sz="1121" dirty="0"/>
          </a:p>
        </p:txBody>
      </p:sp>
      <p:sp>
        <p:nvSpPr>
          <p:cNvPr id="10" name="Shape 8"/>
          <p:cNvSpPr/>
          <p:nvPr/>
        </p:nvSpPr>
        <p:spPr>
          <a:xfrm>
            <a:off x="15744825" y="734735"/>
            <a:ext cx="208121" cy="131445"/>
          </a:xfrm>
          <a:prstGeom prst="roundRect">
            <a:avLst>
              <a:gd name="adj" fmla="val 16667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7715" y="723781"/>
            <a:ext cx="273844" cy="153352"/>
          </a:xfrm>
          <a:prstGeom prst="roundRect">
            <a:avLst>
              <a:gd name="adj" fmla="val 21429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68148" y="1120854"/>
            <a:ext cx="6896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8" dirty="0">
                <a:solidFill>
                  <a:srgbClr val="9A8E8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スキップ</a:t>
            </a:r>
            <a:endParaRPr lang="en-US" sz="1208" dirty="0"/>
          </a:p>
        </p:txBody>
      </p:sp>
      <p:sp>
        <p:nvSpPr>
          <p:cNvPr id="13" name="Shape 11"/>
          <p:cNvSpPr/>
          <p:nvPr/>
        </p:nvSpPr>
        <p:spPr>
          <a:xfrm>
            <a:off x="12535377" y="1663065"/>
            <a:ext cx="3789997" cy="3176587"/>
          </a:xfrm>
          <a:prstGeom prst="roundRect">
            <a:avLst>
              <a:gd name="adj" fmla="val 7586"/>
            </a:avLst>
          </a:prstGeom>
          <a:solidFill>
            <a:srgbClr val="FFFFFF">
              <a:alpha val="55000"/>
            </a:srgbClr>
          </a:solidFill>
          <a:ln w="16431">
            <a:solidFill>
              <a:srgbClr val="3A322C">
                <a:alpha val="16000"/>
              </a:srgbClr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2748974" y="1920478"/>
            <a:ext cx="3699082" cy="229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35" spc="62" kern="0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書いた日に貼られて、そのまま</a:t>
            </a:r>
            <a:endParaRPr lang="en-US" sz="1035" dirty="0"/>
          </a:p>
        </p:txBody>
      </p:sp>
      <p:sp>
        <p:nvSpPr>
          <p:cNvPr id="15" name="Shape 13"/>
          <p:cNvSpPr/>
          <p:nvPr/>
        </p:nvSpPr>
        <p:spPr>
          <a:xfrm rot="-300000">
            <a:off x="12750344" y="2310705"/>
            <a:ext cx="755809" cy="755809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948562" y="2243808"/>
            <a:ext cx="295169" cy="155767"/>
          </a:xfrm>
          <a:prstGeom prst="rect">
            <a:avLst/>
          </a:prstGeom>
          <a:solidFill>
            <a:srgbClr val="FFFFFF">
              <a:alpha val="6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710874" y="3144560"/>
            <a:ext cx="83474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月</a:t>
            </a:r>
            <a:endParaRPr lang="en-US" sz="949" dirty="0"/>
          </a:p>
        </p:txBody>
      </p:sp>
      <p:sp>
        <p:nvSpPr>
          <p:cNvPr id="18" name="Shape 16"/>
          <p:cNvSpPr/>
          <p:nvPr/>
        </p:nvSpPr>
        <p:spPr>
          <a:xfrm>
            <a:off x="13617060" y="2309336"/>
            <a:ext cx="758547" cy="758547"/>
          </a:xfrm>
          <a:prstGeom prst="rect">
            <a:avLst/>
          </a:prstGeom>
          <a:ln w="16431">
            <a:solidFill>
              <a:srgbClr val="3A322C">
                <a:alpha val="18000"/>
              </a:srgbClr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3578960" y="3144560"/>
            <a:ext cx="83474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B4A9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火</a:t>
            </a:r>
            <a:endParaRPr lang="en-US" sz="949" dirty="0"/>
          </a:p>
        </p:txBody>
      </p:sp>
      <p:sp>
        <p:nvSpPr>
          <p:cNvPr id="20" name="Shape 18"/>
          <p:cNvSpPr/>
          <p:nvPr/>
        </p:nvSpPr>
        <p:spPr>
          <a:xfrm rot="240000">
            <a:off x="14486513" y="2310705"/>
            <a:ext cx="755809" cy="755809"/>
          </a:xfrm>
          <a:prstGeom prst="rect">
            <a:avLst/>
          </a:prstGeom>
          <a:gradFill rotWithShape="1">
            <a:gsLst>
              <a:gs pos="0">
                <a:srgbClr val="FFD6C6">
                  <a:alpha val="100000"/>
                </a:srgbClr>
              </a:gs>
              <a:gs pos="100000">
                <a:srgbClr val="FFC0AB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 rot="-240000">
            <a:off x="14483457" y="2266997"/>
            <a:ext cx="755809" cy="755809"/>
          </a:xfrm>
          <a:prstGeom prst="rect">
            <a:avLst/>
          </a:prstGeom>
          <a:gradFill rotWithShape="1">
            <a:gsLst>
              <a:gs pos="0">
                <a:srgbClr val="D2EFE0">
                  <a:alpha val="100000"/>
                </a:srgbClr>
              </a:gs>
              <a:gs pos="100000">
                <a:srgbClr val="B9E6D0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 rot="359998">
            <a:off x="14842178" y="2202110"/>
            <a:ext cx="262890" cy="131445"/>
          </a:xfrm>
          <a:prstGeom prst="rect">
            <a:avLst/>
          </a:prstGeom>
          <a:solidFill>
            <a:srgbClr val="FFFFFF">
              <a:alpha val="6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447044" y="3144560"/>
            <a:ext cx="83474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水</a:t>
            </a:r>
            <a:endParaRPr lang="en-US" sz="949" dirty="0"/>
          </a:p>
        </p:txBody>
      </p:sp>
      <p:sp>
        <p:nvSpPr>
          <p:cNvPr id="24" name="Shape 22"/>
          <p:cNvSpPr/>
          <p:nvPr/>
        </p:nvSpPr>
        <p:spPr>
          <a:xfrm>
            <a:off x="15353228" y="2309336"/>
            <a:ext cx="758548" cy="758547"/>
          </a:xfrm>
          <a:prstGeom prst="rect">
            <a:avLst/>
          </a:prstGeom>
          <a:ln w="16431">
            <a:solidFill>
              <a:srgbClr val="3A322C">
                <a:alpha val="18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5315128" y="3144560"/>
            <a:ext cx="83474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B4A99E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木</a:t>
            </a:r>
            <a:endParaRPr lang="en-US" sz="949" dirty="0"/>
          </a:p>
        </p:txBody>
      </p:sp>
      <p:sp>
        <p:nvSpPr>
          <p:cNvPr id="26" name="Shape 24"/>
          <p:cNvSpPr/>
          <p:nvPr/>
        </p:nvSpPr>
        <p:spPr>
          <a:xfrm rot="300000">
            <a:off x="12750344" y="3518356"/>
            <a:ext cx="755809" cy="755809"/>
          </a:xfrm>
          <a:prstGeom prst="rect">
            <a:avLst/>
          </a:prstGeom>
          <a:gradFill rotWithShape="1">
            <a:gsLst>
              <a:gs pos="0">
                <a:srgbClr val="DCE9FB">
                  <a:alpha val="100000"/>
                </a:srgbClr>
              </a:gs>
              <a:gs pos="100000">
                <a:srgbClr val="C4DAF6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 rot="-359998">
            <a:off x="12911836" y="3451193"/>
            <a:ext cx="265144" cy="136013"/>
          </a:xfrm>
          <a:prstGeom prst="rect">
            <a:avLst/>
          </a:prstGeom>
          <a:solidFill>
            <a:srgbClr val="FFFFFF">
              <a:alpha val="62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710874" y="4352211"/>
            <a:ext cx="83474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金</a:t>
            </a:r>
            <a:endParaRPr lang="en-US" sz="949" dirty="0"/>
          </a:p>
        </p:txBody>
      </p:sp>
      <p:sp>
        <p:nvSpPr>
          <p:cNvPr id="29" name="Shape 27"/>
          <p:cNvSpPr/>
          <p:nvPr/>
        </p:nvSpPr>
        <p:spPr>
          <a:xfrm rot="180000">
            <a:off x="13618428" y="3518356"/>
            <a:ext cx="755809" cy="755809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 rot="-300000">
            <a:off x="13614609" y="3474708"/>
            <a:ext cx="755809" cy="755809"/>
          </a:xfrm>
          <a:prstGeom prst="rect">
            <a:avLst/>
          </a:prstGeom>
          <a:gradFill rotWithShape="1">
            <a:gsLst>
              <a:gs pos="0">
                <a:srgbClr val="EFE0FF">
                  <a:alpha val="100000"/>
                </a:srgbClr>
              </a:gs>
              <a:gs pos="100000">
                <a:srgbClr val="DCC8F8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14300" dist="57150" dir="5400000">
              <a:srgbClr val="3A322C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3812828" y="3407811"/>
            <a:ext cx="295169" cy="155766"/>
          </a:xfrm>
          <a:prstGeom prst="rect">
            <a:avLst/>
          </a:prstGeom>
          <a:solidFill>
            <a:srgbClr val="FFFFFF">
              <a:alpha val="6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578960" y="4352211"/>
            <a:ext cx="83474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土</a:t>
            </a:r>
            <a:endParaRPr lang="en-US" sz="949" dirty="0"/>
          </a:p>
        </p:txBody>
      </p:sp>
      <p:sp>
        <p:nvSpPr>
          <p:cNvPr id="33" name="Shape 31"/>
          <p:cNvSpPr/>
          <p:nvPr/>
        </p:nvSpPr>
        <p:spPr>
          <a:xfrm>
            <a:off x="14485144" y="3516987"/>
            <a:ext cx="1626632" cy="813316"/>
          </a:xfrm>
          <a:prstGeom prst="roundRect">
            <a:avLst>
              <a:gd name="adj" fmla="val 16162"/>
            </a:avLst>
          </a:prstGeom>
          <a:solidFill>
            <a:srgbClr val="E4573D"/>
          </a:solidFill>
          <a:ln/>
          <a:effectLst>
            <a:outerShdw sx="100000" sy="100000" kx="0" ky="0" algn="bl" rotWithShape="0" blurRad="152400" dist="76200" dir="5400000">
              <a:srgbClr val="E4573D">
                <a:alpha val="7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950079" y="3803154"/>
            <a:ext cx="772875" cy="279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94" b="1" spc="78" kern="0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オープン</a:t>
            </a:r>
            <a:endParaRPr lang="en-US" sz="1294" dirty="0"/>
          </a:p>
        </p:txBody>
      </p:sp>
      <p:sp>
        <p:nvSpPr>
          <p:cNvPr id="35" name="Text 33"/>
          <p:cNvSpPr/>
          <p:nvPr/>
        </p:nvSpPr>
        <p:spPr>
          <a:xfrm>
            <a:off x="15238214" y="4406979"/>
            <a:ext cx="19669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49" b="1" dirty="0">
                <a:solidFill>
                  <a:srgbClr val="E4573D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日</a:t>
            </a:r>
            <a:endParaRPr lang="en-US" sz="949" dirty="0"/>
          </a:p>
        </p:txBody>
      </p:sp>
      <p:sp>
        <p:nvSpPr>
          <p:cNvPr id="36" name="Text 34"/>
          <p:cNvSpPr/>
          <p:nvPr/>
        </p:nvSpPr>
        <p:spPr>
          <a:xfrm>
            <a:off x="12623006" y="5124450"/>
            <a:ext cx="3976211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7"/>
              </a:lnSpc>
              <a:buNone/>
            </a:pPr>
            <a:r>
              <a:rPr lang="en-US" sz="2242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週に一度のオープン</a:t>
            </a:r>
            <a:endParaRPr lang="en-US" sz="2242" dirty="0"/>
          </a:p>
        </p:txBody>
      </p:sp>
      <p:sp>
        <p:nvSpPr>
          <p:cNvPr id="37" name="Text 35"/>
          <p:cNvSpPr/>
          <p:nvPr/>
        </p:nvSpPr>
        <p:spPr>
          <a:xfrm>
            <a:off x="12623006" y="5741112"/>
            <a:ext cx="3723180" cy="678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294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書いたことづては日曜まで貼ったまま、その週ぶんがまとめて見れるようになります。</a:t>
            </a:r>
            <a:endParaRPr lang="en-US" sz="1294" dirty="0"/>
          </a:p>
        </p:txBody>
      </p:sp>
      <p:sp>
        <p:nvSpPr>
          <p:cNvPr id="38" name="Shape 36"/>
          <p:cNvSpPr/>
          <p:nvPr/>
        </p:nvSpPr>
        <p:spPr>
          <a:xfrm>
            <a:off x="12623006" y="8826818"/>
            <a:ext cx="240983" cy="65722"/>
          </a:xfrm>
          <a:prstGeom prst="roundRect">
            <a:avLst>
              <a:gd name="adj" fmla="val 50000"/>
            </a:avLst>
          </a:prstGeom>
          <a:solidFill>
            <a:srgbClr val="E4573D"/>
          </a:solidFill>
          <a:ln/>
        </p:spPr>
      </p:sp>
      <p:sp>
        <p:nvSpPr>
          <p:cNvPr id="39" name="Shape 37"/>
          <p:cNvSpPr/>
          <p:nvPr/>
        </p:nvSpPr>
        <p:spPr>
          <a:xfrm>
            <a:off x="12940665" y="8826818"/>
            <a:ext cx="65723" cy="65722"/>
          </a:xfrm>
          <a:prstGeom prst="ellipse">
            <a:avLst/>
          </a:prstGeom>
          <a:solidFill>
            <a:srgbClr val="D0C3AF"/>
          </a:solidFill>
          <a:ln/>
        </p:spPr>
      </p:sp>
      <p:sp>
        <p:nvSpPr>
          <p:cNvPr id="40" name="Shape 38"/>
          <p:cNvSpPr/>
          <p:nvPr/>
        </p:nvSpPr>
        <p:spPr>
          <a:xfrm>
            <a:off x="15142369" y="8563927"/>
            <a:ext cx="1095375" cy="591502"/>
          </a:xfrm>
          <a:prstGeom prst="roundRect">
            <a:avLst>
              <a:gd name="adj" fmla="val 29630"/>
            </a:avLst>
          </a:prstGeom>
          <a:solidFill>
            <a:srgbClr val="3A322C"/>
          </a:solidFill>
          <a:ln/>
        </p:spPr>
      </p:sp>
      <p:sp>
        <p:nvSpPr>
          <p:cNvPr id="41" name="Text 39"/>
          <p:cNvSpPr/>
          <p:nvPr/>
        </p:nvSpPr>
        <p:spPr>
          <a:xfrm>
            <a:off x="15427166" y="8733711"/>
            <a:ext cx="601980" cy="290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つぎへ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502569"/>
            <a:ext cx="761926" cy="457200"/>
          </a:xfrm>
          <a:prstGeom prst="roundRect">
            <a:avLst>
              <a:gd name="adj" fmla="val 16667"/>
            </a:avLst>
          </a:prstGeom>
          <a:solidFill>
            <a:srgbClr val="E4573D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1616869"/>
            <a:ext cx="4952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③-2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43076" y="1428750"/>
            <a:ext cx="322707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ことづての交換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28750" y="2281238"/>
            <a:ext cx="76523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22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自分が感謝のことづてを書くと、相手のことづても見れるようになります。片方通行にしないための仕組み。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1145" y="3690937"/>
            <a:ext cx="7393305" cy="2118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上段＝ロック中。相手のことづてはぼかしと錠で、枚数は見せない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下段＝自分が貼った後。オープンして中身が見える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「開封」ではなく「オープン」。急かす文言は置かない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294394" y="523875"/>
            <a:ext cx="4271963" cy="9244965"/>
          </a:xfrm>
          <a:prstGeom prst="roundRect">
            <a:avLst>
              <a:gd name="adj" fmla="val 8718"/>
            </a:avLst>
          </a:prstGeom>
          <a:solidFill>
            <a:srgbClr val="F7F2E9"/>
          </a:solidFill>
          <a:ln/>
          <a:effectLst>
            <a:outerShdw sx="100000" sy="100000" kx="0" ky="0" algn="bl" rotWithShape="0" blurRad="381000" dist="190500" dir="5400000">
              <a:srgbClr val="3A322C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294394" y="523875"/>
            <a:ext cx="4271963" cy="9244965"/>
          </a:xfrm>
          <a:prstGeom prst="rect">
            <a:avLst/>
          </a:prstGeom>
          <a:gradFill rotWithShape="1">
            <a:gsLst>
              <a:gs pos="0">
                <a:srgbClr val="000000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" name="Text 7"/>
          <p:cNvSpPr/>
          <p:nvPr/>
        </p:nvSpPr>
        <p:spPr>
          <a:xfrm>
            <a:off x="12579191" y="699135"/>
            <a:ext cx="309737" cy="24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1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9:41</a:t>
            </a:r>
            <a:endParaRPr lang="en-US" sz="1121" dirty="0"/>
          </a:p>
        </p:txBody>
      </p:sp>
      <p:sp>
        <p:nvSpPr>
          <p:cNvPr id="10" name="Shape 8"/>
          <p:cNvSpPr/>
          <p:nvPr/>
        </p:nvSpPr>
        <p:spPr>
          <a:xfrm>
            <a:off x="15744825" y="734735"/>
            <a:ext cx="208121" cy="131445"/>
          </a:xfrm>
          <a:prstGeom prst="roundRect">
            <a:avLst>
              <a:gd name="adj" fmla="val 16667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7715" y="723781"/>
            <a:ext cx="273844" cy="153352"/>
          </a:xfrm>
          <a:prstGeom prst="roundRect">
            <a:avLst>
              <a:gd name="adj" fmla="val 21429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668148" y="1120854"/>
            <a:ext cx="6896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8" dirty="0">
                <a:solidFill>
                  <a:srgbClr val="9A8E8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スキップ</a:t>
            </a:r>
            <a:endParaRPr lang="en-US" sz="1208" dirty="0"/>
          </a:p>
        </p:txBody>
      </p:sp>
      <p:sp>
        <p:nvSpPr>
          <p:cNvPr id="13" name="Shape 11"/>
          <p:cNvSpPr/>
          <p:nvPr/>
        </p:nvSpPr>
        <p:spPr>
          <a:xfrm>
            <a:off x="12579191" y="1778079"/>
            <a:ext cx="3702367" cy="3746182"/>
          </a:xfrm>
          <a:prstGeom prst="roundRect">
            <a:avLst>
              <a:gd name="adj" fmla="val 6509"/>
            </a:avLst>
          </a:prstGeom>
          <a:solidFill>
            <a:srgbClr val="FFFFFF">
              <a:alpha val="55000"/>
            </a:srgbClr>
          </a:solidFill>
          <a:ln w="16431">
            <a:solidFill>
              <a:srgbClr val="3A322C">
                <a:alpha val="16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rot="-240000">
            <a:off x="12836604" y="2101215"/>
            <a:ext cx="1051560" cy="1051560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33350" dist="66675" dir="5400000">
              <a:srgbClr val="3A322C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124436" y="2023180"/>
            <a:ext cx="404072" cy="180486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2932653" y="2284894"/>
            <a:ext cx="903641" cy="48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63"/>
              </a:lnSpc>
              <a:buNone/>
            </a:pPr>
            <a:r>
              <a:rPr lang="en-US" sz="949" b="1" dirty="0">
                <a:solidFill>
                  <a:srgbClr val="4A3B2A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自分のことづて</a:t>
            </a:r>
            <a:endParaRPr lang="en-US" sz="949" dirty="0"/>
          </a:p>
        </p:txBody>
      </p:sp>
      <p:sp>
        <p:nvSpPr>
          <p:cNvPr id="17" name="Text 15"/>
          <p:cNvSpPr/>
          <p:nvPr/>
        </p:nvSpPr>
        <p:spPr>
          <a:xfrm>
            <a:off x="13181648" y="3229451"/>
            <a:ext cx="43767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じぶん</a:t>
            </a:r>
            <a:endParaRPr lang="en-US" sz="949" dirty="0"/>
          </a:p>
        </p:txBody>
      </p:sp>
      <p:sp>
        <p:nvSpPr>
          <p:cNvPr id="18" name="Text 16"/>
          <p:cNvSpPr/>
          <p:nvPr/>
        </p:nvSpPr>
        <p:spPr>
          <a:xfrm>
            <a:off x="14309884" y="2451735"/>
            <a:ext cx="317183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7" dirty="0">
                <a:solidFill>
                  <a:srgbClr val="E4573D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⇄</a:t>
            </a:r>
            <a:endParaRPr lang="en-US" sz="1897" dirty="0"/>
          </a:p>
        </p:txBody>
      </p:sp>
      <p:sp>
        <p:nvSpPr>
          <p:cNvPr id="19" name="Text 17"/>
          <p:cNvSpPr/>
          <p:nvPr/>
        </p:nvSpPr>
        <p:spPr>
          <a:xfrm>
            <a:off x="14155162" y="2857024"/>
            <a:ext cx="626627" cy="235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8" b="1" dirty="0">
                <a:solidFill>
                  <a:srgbClr val="E4573D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こうかん</a:t>
            </a:r>
            <a:endParaRPr lang="en-US" sz="1078" dirty="0"/>
          </a:p>
        </p:txBody>
      </p:sp>
      <p:sp>
        <p:nvSpPr>
          <p:cNvPr id="20" name="Shape 18"/>
          <p:cNvSpPr/>
          <p:nvPr/>
        </p:nvSpPr>
        <p:spPr>
          <a:xfrm rot="240000">
            <a:off x="14972585" y="2101215"/>
            <a:ext cx="1051560" cy="1051560"/>
          </a:xfrm>
          <a:prstGeom prst="rect">
            <a:avLst/>
          </a:prstGeom>
          <a:solidFill>
            <a:srgbClr val="DCC8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5355967" y="2484596"/>
            <a:ext cx="284797" cy="284798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432643" y="2572226"/>
            <a:ext cx="131445" cy="109538"/>
          </a:xfrm>
          <a:prstGeom prst="roundRect">
            <a:avLst>
              <a:gd name="adj" fmla="val 20000"/>
            </a:avLst>
          </a:prstGeom>
          <a:solidFill>
            <a:srgbClr val="6B605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465505" y="2506504"/>
            <a:ext cx="65722" cy="21908"/>
          </a:xfrm>
          <a:prstGeom prst="rect">
            <a:avLst/>
          </a:prstGeom>
          <a:solidFill>
            <a:srgbClr val="6B6058"/>
          </a:solidFill>
          <a:ln/>
        </p:spPr>
      </p:sp>
      <p:sp>
        <p:nvSpPr>
          <p:cNvPr id="24" name="Shape 22"/>
          <p:cNvSpPr/>
          <p:nvPr/>
        </p:nvSpPr>
        <p:spPr>
          <a:xfrm>
            <a:off x="15465505" y="2506504"/>
            <a:ext cx="21908" cy="65722"/>
          </a:xfrm>
          <a:prstGeom prst="rect">
            <a:avLst/>
          </a:prstGeom>
          <a:solidFill>
            <a:srgbClr val="6B6058"/>
          </a:solidFill>
          <a:ln/>
        </p:spPr>
      </p:sp>
      <p:sp>
        <p:nvSpPr>
          <p:cNvPr id="25" name="Shape 23"/>
          <p:cNvSpPr/>
          <p:nvPr/>
        </p:nvSpPr>
        <p:spPr>
          <a:xfrm>
            <a:off x="15509319" y="2506504"/>
            <a:ext cx="21908" cy="65722"/>
          </a:xfrm>
          <a:prstGeom prst="rect">
            <a:avLst/>
          </a:prstGeom>
          <a:solidFill>
            <a:srgbClr val="6B6058"/>
          </a:solidFill>
          <a:ln/>
        </p:spPr>
      </p:sp>
      <p:sp>
        <p:nvSpPr>
          <p:cNvPr id="26" name="Text 24"/>
          <p:cNvSpPr/>
          <p:nvPr/>
        </p:nvSpPr>
        <p:spPr>
          <a:xfrm>
            <a:off x="15317629" y="3229451"/>
            <a:ext cx="43767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あいて</a:t>
            </a:r>
            <a:endParaRPr lang="en-US" sz="949" dirty="0"/>
          </a:p>
        </p:txBody>
      </p:sp>
      <p:sp>
        <p:nvSpPr>
          <p:cNvPr id="27" name="Shape 25"/>
          <p:cNvSpPr/>
          <p:nvPr/>
        </p:nvSpPr>
        <p:spPr>
          <a:xfrm>
            <a:off x="12836605" y="3645694"/>
            <a:ext cx="3187540" cy="10954"/>
          </a:xfrm>
          <a:prstGeom prst="rect">
            <a:avLst/>
          </a:prstGeom>
          <a:solidFill>
            <a:srgbClr val="3A322C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-240000">
            <a:off x="12836604" y="3897630"/>
            <a:ext cx="1051560" cy="1051560"/>
          </a:xfrm>
          <a:prstGeom prst="rect">
            <a:avLst/>
          </a:prstGeom>
          <a:gradFill rotWithShape="1">
            <a:gsLst>
              <a:gs pos="0">
                <a:srgbClr val="FFE9A0">
                  <a:alpha val="100000"/>
                </a:srgbClr>
              </a:gs>
              <a:gs pos="100000">
                <a:srgbClr val="FFDC72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33350" dist="66675" dir="5400000">
              <a:srgbClr val="3A322C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124436" y="3819594"/>
            <a:ext cx="404072" cy="180487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932653" y="4081309"/>
            <a:ext cx="890616" cy="297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63"/>
              </a:lnSpc>
              <a:buNone/>
            </a:pPr>
            <a:r>
              <a:rPr lang="en-US" sz="949" b="1" dirty="0">
                <a:solidFill>
                  <a:srgbClr val="4A3B2A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貼った！</a:t>
            </a:r>
            <a:endParaRPr lang="en-US" sz="949" dirty="0"/>
          </a:p>
        </p:txBody>
      </p:sp>
      <p:sp>
        <p:nvSpPr>
          <p:cNvPr id="31" name="Text 29"/>
          <p:cNvSpPr/>
          <p:nvPr/>
        </p:nvSpPr>
        <p:spPr>
          <a:xfrm>
            <a:off x="13181648" y="5025866"/>
            <a:ext cx="43767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じぶん</a:t>
            </a:r>
            <a:endParaRPr lang="en-US" sz="949" dirty="0"/>
          </a:p>
        </p:txBody>
      </p:sp>
      <p:sp>
        <p:nvSpPr>
          <p:cNvPr id="32" name="Text 30"/>
          <p:cNvSpPr/>
          <p:nvPr/>
        </p:nvSpPr>
        <p:spPr>
          <a:xfrm>
            <a:off x="14334701" y="4248150"/>
            <a:ext cx="26754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97" dirty="0">
                <a:solidFill>
                  <a:srgbClr val="E4573D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✧</a:t>
            </a:r>
            <a:endParaRPr lang="en-US" sz="1897" dirty="0"/>
          </a:p>
        </p:txBody>
      </p:sp>
      <p:sp>
        <p:nvSpPr>
          <p:cNvPr id="33" name="Text 31"/>
          <p:cNvSpPr/>
          <p:nvPr/>
        </p:nvSpPr>
        <p:spPr>
          <a:xfrm>
            <a:off x="14159269" y="4653439"/>
            <a:ext cx="618411" cy="23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8" b="1" dirty="0">
                <a:solidFill>
                  <a:srgbClr val="E4573D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オープン</a:t>
            </a:r>
            <a:endParaRPr lang="en-US" sz="1078" dirty="0"/>
          </a:p>
        </p:txBody>
      </p:sp>
      <p:sp>
        <p:nvSpPr>
          <p:cNvPr id="34" name="Shape 32"/>
          <p:cNvSpPr/>
          <p:nvPr/>
        </p:nvSpPr>
        <p:spPr>
          <a:xfrm rot="240000">
            <a:off x="14972585" y="3897630"/>
            <a:ext cx="1051560" cy="1051560"/>
          </a:xfrm>
          <a:prstGeom prst="rect">
            <a:avLst/>
          </a:prstGeom>
          <a:gradFill rotWithShape="1">
            <a:gsLst>
              <a:gs pos="0">
                <a:srgbClr val="EFE0FF">
                  <a:alpha val="100000"/>
                </a:srgbClr>
              </a:gs>
              <a:gs pos="100000">
                <a:srgbClr val="DCC8F8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133350" dist="66675" dir="5400000">
              <a:srgbClr val="3A322C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 rot="359998">
            <a:off x="15555679" y="3847679"/>
            <a:ext cx="372428" cy="153353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5100655" y="4081309"/>
            <a:ext cx="903641" cy="483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63"/>
              </a:lnSpc>
              <a:buNone/>
            </a:pPr>
            <a:r>
              <a:rPr lang="en-US" sz="949" b="1" dirty="0">
                <a:solidFill>
                  <a:srgbClr val="43305C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相手のことづて</a:t>
            </a:r>
            <a:endParaRPr lang="en-US" sz="949" dirty="0"/>
          </a:p>
        </p:txBody>
      </p:sp>
      <p:sp>
        <p:nvSpPr>
          <p:cNvPr id="37" name="Text 35"/>
          <p:cNvSpPr/>
          <p:nvPr/>
        </p:nvSpPr>
        <p:spPr>
          <a:xfrm>
            <a:off x="15317629" y="5025866"/>
            <a:ext cx="43767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49" dirty="0">
                <a:solidFill>
                  <a:srgbClr val="8A7B6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あいて</a:t>
            </a:r>
            <a:endParaRPr lang="en-US" sz="949" dirty="0"/>
          </a:p>
        </p:txBody>
      </p:sp>
      <p:sp>
        <p:nvSpPr>
          <p:cNvPr id="38" name="Text 36"/>
          <p:cNvSpPr/>
          <p:nvPr/>
        </p:nvSpPr>
        <p:spPr>
          <a:xfrm>
            <a:off x="12623006" y="6868321"/>
            <a:ext cx="3976211" cy="47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7"/>
              </a:lnSpc>
              <a:buNone/>
            </a:pPr>
            <a:r>
              <a:rPr lang="en-US" sz="2242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ことづての交換</a:t>
            </a:r>
            <a:endParaRPr lang="en-US" sz="2242" dirty="0"/>
          </a:p>
        </p:txBody>
      </p:sp>
      <p:sp>
        <p:nvSpPr>
          <p:cNvPr id="39" name="Text 37"/>
          <p:cNvSpPr/>
          <p:nvPr/>
        </p:nvSpPr>
        <p:spPr>
          <a:xfrm>
            <a:off x="12623006" y="7484983"/>
            <a:ext cx="3723180" cy="678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955"/>
              </a:lnSpc>
              <a:buNone/>
            </a:pPr>
            <a:r>
              <a:rPr lang="en-US" sz="1294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自分が感謝のことづてを書くと、相手のことづても見れるようになります。</a:t>
            </a:r>
            <a:endParaRPr lang="en-US" sz="1294" dirty="0"/>
          </a:p>
        </p:txBody>
      </p:sp>
      <p:sp>
        <p:nvSpPr>
          <p:cNvPr id="40" name="Shape 38"/>
          <p:cNvSpPr/>
          <p:nvPr/>
        </p:nvSpPr>
        <p:spPr>
          <a:xfrm>
            <a:off x="12623006" y="8826818"/>
            <a:ext cx="65723" cy="65722"/>
          </a:xfrm>
          <a:prstGeom prst="ellipse">
            <a:avLst/>
          </a:prstGeom>
          <a:solidFill>
            <a:srgbClr val="D0C3AF"/>
          </a:solidFill>
          <a:ln/>
        </p:spPr>
      </p:sp>
      <p:sp>
        <p:nvSpPr>
          <p:cNvPr id="41" name="Shape 39"/>
          <p:cNvSpPr/>
          <p:nvPr/>
        </p:nvSpPr>
        <p:spPr>
          <a:xfrm>
            <a:off x="12765405" y="8826818"/>
            <a:ext cx="240983" cy="65722"/>
          </a:xfrm>
          <a:prstGeom prst="roundRect">
            <a:avLst>
              <a:gd name="adj" fmla="val 50000"/>
            </a:avLst>
          </a:prstGeom>
          <a:solidFill>
            <a:srgbClr val="E4573D"/>
          </a:solidFill>
          <a:ln/>
        </p:spPr>
      </p:sp>
      <p:sp>
        <p:nvSpPr>
          <p:cNvPr id="42" name="Shape 40"/>
          <p:cNvSpPr/>
          <p:nvPr/>
        </p:nvSpPr>
        <p:spPr>
          <a:xfrm>
            <a:off x="14791848" y="8563927"/>
            <a:ext cx="1445895" cy="591502"/>
          </a:xfrm>
          <a:prstGeom prst="roundRect">
            <a:avLst>
              <a:gd name="adj" fmla="val 29630"/>
            </a:avLst>
          </a:prstGeom>
          <a:solidFill>
            <a:srgbClr val="3A322C"/>
          </a:solidFill>
          <a:ln/>
        </p:spPr>
      </p:sp>
      <p:sp>
        <p:nvSpPr>
          <p:cNvPr id="43" name="Text 41"/>
          <p:cNvSpPr/>
          <p:nvPr/>
        </p:nvSpPr>
        <p:spPr>
          <a:xfrm>
            <a:off x="15076646" y="8733711"/>
            <a:ext cx="952500" cy="290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書いてみる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502569"/>
            <a:ext cx="571500" cy="457200"/>
          </a:xfrm>
          <a:prstGeom prst="roundRect">
            <a:avLst>
              <a:gd name="adj" fmla="val 16667"/>
            </a:avLst>
          </a:prstGeom>
          <a:solidFill>
            <a:srgbClr val="E4573D"/>
          </a:solidFill>
          <a:ln/>
        </p:spPr>
      </p:sp>
      <p:sp>
        <p:nvSpPr>
          <p:cNvPr id="3" name="Text 1"/>
          <p:cNvSpPr/>
          <p:nvPr/>
        </p:nvSpPr>
        <p:spPr>
          <a:xfrm>
            <a:off x="1600200" y="1616869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52650" y="1428750"/>
            <a:ext cx="3688080" cy="642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はじめのことづて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28750" y="2281238"/>
            <a:ext cx="765238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22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つながった相手が最初に見るのは、このことづて。招待より前に、必ずここを通す。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1145" y="3690937"/>
            <a:ext cx="7393305" cy="159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字数下限も字数カウントも出さない。短くても長くてもいい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ヒントは畳んだまま、詰まったときだけ引ける逃げ道として</a:t>
            </a:r>
            <a:endParaRPr lang="en-US" sz="1950" dirty="0"/>
          </a:p>
          <a:p>
            <a:pPr algn="l" marL="173355" indent="-173355">
              <a:lnSpc>
                <a:spcPct val="1456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5C534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プロンプトは感謝寄り：「最近ありがとうと思ったこと」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294394" y="523875"/>
            <a:ext cx="4271963" cy="9244965"/>
          </a:xfrm>
          <a:prstGeom prst="roundRect">
            <a:avLst>
              <a:gd name="adj" fmla="val 871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381000" dist="190500" dir="5400000">
              <a:srgbClr val="3A322C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579191" y="699135"/>
            <a:ext cx="309737" cy="240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1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9:41</a:t>
            </a:r>
            <a:endParaRPr lang="en-US" sz="1121" dirty="0"/>
          </a:p>
        </p:txBody>
      </p:sp>
      <p:sp>
        <p:nvSpPr>
          <p:cNvPr id="9" name="Shape 7"/>
          <p:cNvSpPr/>
          <p:nvPr/>
        </p:nvSpPr>
        <p:spPr>
          <a:xfrm>
            <a:off x="15744825" y="734735"/>
            <a:ext cx="208121" cy="131445"/>
          </a:xfrm>
          <a:prstGeom prst="roundRect">
            <a:avLst>
              <a:gd name="adj" fmla="val 16667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7715" y="723781"/>
            <a:ext cx="273844" cy="153352"/>
          </a:xfrm>
          <a:prstGeom prst="roundRect">
            <a:avLst>
              <a:gd name="adj" fmla="val 21429"/>
            </a:avLst>
          </a:prstGeom>
          <a:ln w="16431">
            <a:solidFill>
              <a:srgbClr val="3A32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23006" y="1296114"/>
            <a:ext cx="3976211" cy="462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39"/>
              </a:lnSpc>
              <a:buNone/>
            </a:pPr>
            <a:r>
              <a:rPr lang="en-US" sz="2156" b="1" dirty="0">
                <a:solidFill>
                  <a:srgbClr val="3A322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はじめのことづて</a:t>
            </a:r>
            <a:endParaRPr lang="en-US" sz="2156" dirty="0"/>
          </a:p>
        </p:txBody>
      </p:sp>
      <p:sp>
        <p:nvSpPr>
          <p:cNvPr id="12" name="Text 10"/>
          <p:cNvSpPr/>
          <p:nvPr/>
        </p:nvSpPr>
        <p:spPr>
          <a:xfrm>
            <a:off x="12623006" y="1852017"/>
            <a:ext cx="3723180" cy="641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90"/>
              </a:lnSpc>
              <a:buNone/>
            </a:pPr>
            <a:r>
              <a:rPr lang="en-US" sz="1251" dirty="0">
                <a:solidFill>
                  <a:srgbClr val="6B6058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つながった相手が最初に見るのは、このことづてです。</a:t>
            </a:r>
            <a:endParaRPr lang="en-US" sz="1251" dirty="0"/>
          </a:p>
        </p:txBody>
      </p:sp>
      <p:sp>
        <p:nvSpPr>
          <p:cNvPr id="13" name="Shape 11"/>
          <p:cNvSpPr/>
          <p:nvPr/>
        </p:nvSpPr>
        <p:spPr>
          <a:xfrm rot="90000">
            <a:off x="12623007" y="2784113"/>
            <a:ext cx="3614736" cy="3614736"/>
          </a:xfrm>
          <a:prstGeom prst="rect">
            <a:avLst/>
          </a:prstGeom>
          <a:gradFill rotWithShape="1">
            <a:gsLst>
              <a:gs pos="0">
                <a:srgbClr val="D2EFE0">
                  <a:alpha val="100000"/>
                </a:srgbClr>
              </a:gs>
              <a:gs pos="100000">
                <a:srgbClr val="B9E6D0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152400" dir="5400000">
              <a:srgbClr val="3A322C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120000">
            <a:off x="14028439" y="2642332"/>
            <a:ext cx="898207" cy="295751"/>
          </a:xfrm>
          <a:prstGeom prst="rect">
            <a:avLst/>
          </a:prstGeom>
          <a:solidFill>
            <a:srgbClr val="FFFFFF">
              <a:alpha val="62000"/>
            </a:srgbClr>
          </a:solidFill>
          <a:ln/>
          <a:effectLst>
            <a:outerShdw sx="100000" sy="100000" kx="0" ky="0" algn="bl" rotWithShape="0" blurRad="19050" dist="9525" dir="54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975924" y="3249723"/>
            <a:ext cx="3055826" cy="50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138"/>
              </a:lnSpc>
              <a:buNone/>
            </a:pPr>
            <a:r>
              <a:rPr lang="en-US" sz="1725" b="1" dirty="0">
                <a:solidFill>
                  <a:srgbClr val="2F4A3E">
                    <a:alpha val="45000"/>
                  </a:srgbClr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ここに、ひとこと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2623006" y="6705555"/>
            <a:ext cx="1679603" cy="394335"/>
          </a:xfrm>
          <a:prstGeom prst="roundRect">
            <a:avLst>
              <a:gd name="adj" fmla="val 50000"/>
            </a:avLst>
          </a:prstGeom>
          <a:solidFill>
            <a:srgbClr val="F7F3EA"/>
          </a:solidFill>
          <a:ln/>
        </p:spPr>
      </p:sp>
      <p:sp>
        <p:nvSpPr>
          <p:cNvPr id="17" name="Text 15"/>
          <p:cNvSpPr/>
          <p:nvPr/>
        </p:nvSpPr>
        <p:spPr>
          <a:xfrm>
            <a:off x="12776359" y="6804139"/>
            <a:ext cx="1355527" cy="2352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78" dirty="0">
                <a:solidFill>
                  <a:srgbClr val="7A6F66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書くことに迷ったら</a:t>
            </a:r>
            <a:endParaRPr lang="en-US" sz="1078" dirty="0"/>
          </a:p>
        </p:txBody>
      </p:sp>
      <p:sp>
        <p:nvSpPr>
          <p:cNvPr id="18" name="Text 16"/>
          <p:cNvSpPr/>
          <p:nvPr/>
        </p:nvSpPr>
        <p:spPr>
          <a:xfrm>
            <a:off x="14096286" y="6823308"/>
            <a:ext cx="129171" cy="196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A0958C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▾</a:t>
            </a:r>
            <a:endParaRPr lang="en-US" sz="863" dirty="0"/>
          </a:p>
        </p:txBody>
      </p:sp>
      <p:sp>
        <p:nvSpPr>
          <p:cNvPr id="19" name="Text 17"/>
          <p:cNvSpPr/>
          <p:nvPr/>
        </p:nvSpPr>
        <p:spPr>
          <a:xfrm>
            <a:off x="12666821" y="7209428"/>
            <a:ext cx="39323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8" b="1" dirty="0">
                <a:solidFill>
                  <a:srgbClr val="A0958C"/>
                </a:solidFill>
                <a:latin typeface="Klee One" pitchFamily="34" charset="0"/>
                <a:ea typeface="Klee One" pitchFamily="34" charset="-122"/>
                <a:cs typeface="Klee One" pitchFamily="34" charset="-120"/>
              </a:rPr>
              <a:t>「最近ありがとうと思ったこと」</a:t>
            </a:r>
            <a:endParaRPr lang="en-US" sz="1208" dirty="0"/>
          </a:p>
        </p:txBody>
      </p:sp>
      <p:sp>
        <p:nvSpPr>
          <p:cNvPr id="20" name="Shape 18"/>
          <p:cNvSpPr/>
          <p:nvPr/>
        </p:nvSpPr>
        <p:spPr>
          <a:xfrm>
            <a:off x="12557284" y="8739188"/>
            <a:ext cx="3746183" cy="657225"/>
          </a:xfrm>
          <a:prstGeom prst="roundRect">
            <a:avLst>
              <a:gd name="adj" fmla="val 30000"/>
            </a:avLst>
          </a:prstGeom>
          <a:solidFill>
            <a:srgbClr val="E4573D"/>
          </a:solidFill>
          <a:ln/>
          <a:effectLst>
            <a:outerShdw sx="100000" sy="100000" kx="0" ky="0" algn="bl" rotWithShape="0" blurRad="190500" dist="95250" dir="5400000">
              <a:srgbClr val="E4573D">
                <a:alpha val="7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4039292" y="8933616"/>
            <a:ext cx="858366" cy="3064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66" b="1" spc="73" kern="0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壁に貼る</a:t>
            </a:r>
            <a:endParaRPr lang="en-US" sz="146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2026-08-02T06:52:32Z</dcterms:created>
  <dcterms:modified xsi:type="dcterms:W3CDTF">2026-08-02T06:52:32Z</dcterms:modified>
</cp:coreProperties>
</file>